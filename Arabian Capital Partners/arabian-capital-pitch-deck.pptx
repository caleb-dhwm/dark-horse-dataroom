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Arabian Capital
Partners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0"/>
            <a:ext cx="3657600" cy="36576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383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9A00"/>
                </a:solidFill>
              </a:rPr>
              <a:t>Sovereign-Grade Commodity Credit · Physical Asset Backed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F5F5"/>
                </a:solidFill>
              </a:rPr>
              <a:t>14–20% Fixed Annual Yield. Zero Fees. Monthly Distributions.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CONFIDENTIAL. For Qualified Purchasers only under Section 3(c)(7) of the Investment Company Act of 1940. Reg D Rule 506(c). Fixed yield rates are contractual — not projections. Refer to PPM.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Dark Horse Wealth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Fund Highlights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3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14–20%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Fixed Annual Yield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Contractual — not a projection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80160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46303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Monthly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286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Cash Distributions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743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12 payments per year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280160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59" y="146303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$0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2286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Management Fees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59" y="2743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Zero fees of any kind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83279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5661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LBMA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Certified Custody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463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Brinks &amp; Transguard vaults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3383279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35661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20×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389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Trade Cycles/Month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8463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3–5 day cycle duration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3383279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59" y="35661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3–5%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59" y="4389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Gross Margin/Cycle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59" y="48463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Per physical trade cycle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Sovereign Capital Moment —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1,044+ MT/Year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Central bank gold buying at 50-year highs. Over 1,000 metric tons purchased in each of the last two consecutive years (World Gold Council, 2024).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SWF Reallocation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GCC sovereign wealth funds actively reducing real estate concentration in favor of liquid, yield-generating hard asset strategies with monthly income.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83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U.S.-Domiciled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83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Geopolitical fragmentation driving unprecedented demand for U.S.-domiciled, physically-backed, USD-denominated hard asset vehicles.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311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The Gap We Fill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311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No single vehicle delivers: 14–20% yield + physical capital protection + near-zero correlation + monthly income. Arabian Capital delivers all four simultaneously.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Two-Tranche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Tranche A — 70% of Capital: Physical Commodity Trade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Purchase gold, silver, and strategic minerals at wholesale/spot. Hold in LBMA-certified custody (Brinks/Transguard). Sell to confirmed institutional buyers in Dubai and Sharjah at spot +3–5% margin. 3–5 business day cycles. 12–20 cycles per month.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Tranche B — 30% of Capital: Commodity-Backed Private Credit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Short-duration secured lending to commodity producers and dealers, collateralized by physical gold and silver in LBMA vault custody. Near-zero default risk through physical collateral enforcement.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83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Combined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83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14–20% fixed annual yield · Monthly distributions · $0 management fees · Physical asset collateral throughout · U.S.-domiciled · LBMA-certified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3–5 Day Revenue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Capital is never sitting idle. Each trade cycle completes in 3–5 business days, then repeats.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00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Step 1 —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002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Identify gold, silver, or strategic mineral inventory at wholesale/spot. Sourced from Ghana, Uganda, Fiji, Malaysia, UAE, Europe.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47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Step 2 — Purchase &amp; Certify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476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Acquire physical metal. Route through LBMA-certified re-refinery in Dubai. Confirm Good Delivery standards.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2951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Step 3 — LBMA Custody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9514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Physical metal held in Brinks/Transguard LBMA-certified vaults. Full insurance and chain-of-custody on every shipment.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64261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Step 4 — Sell to Buyer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42615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Deliver to confirmed institutional buyer in Dubai or Sharjah at spot +3–5% gross margin. 8+ metric tons/month combined capacity.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99008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Step 5 — Distribute &amp; Repeat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990087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Proceeds returned to fund. Monthly distributions to investors. Capital re-deployed immediately into next cycle.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Operational Infrastructure — Already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Confirmed Buyers (8+ MT/month)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 confirmed institutional buyers in Dubai and Sharjah. Combined 8+ metric tons of gold per month capacity. Contracted relationships — not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LBMA-Certified Custody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Brinks (international) and Transguard (UAE). Full chain-of-custody, insurance, and independent audit trail on every trade.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83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Emirates Sky Cargo Logistics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83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Institutional commodity freight on established UAE-Texas corridor. Bonded, insured international delivery.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311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TX Wholesale Noble Metals Broker License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311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Active license held by Stateside Resources LLC — operational and compliant for all U.S. commodity transactions.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578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LBMA Re-Refinery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786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Dubai-based LBMA-certified re-refinery processes all incoming metal to Good Delivery specification.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9260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Texas Silver Asset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260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670-acre silver ore body, Llano County TX. 4,431 ppm silver concentration, confirmed by 3 independent labs.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Management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Caleb Caraway — Managing Partner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CEO of Dark Horse Wealth Management and affiliated entities. Established commodity trade relationships with LBMA-certified buyers. Principal of Stateside Resources LLC (TX Wholesale Noble Metals Broker).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Dark Horse Wealth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Governing entity and parent company. Provides compliance, operational oversight, and institutional infrastructure.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83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Arabian Wealth Management LLC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83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 Dark Horse Wealth Management company. Purpose-built to manage sovereign-grade commodity credit strategies.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9144000" cy="36576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9A00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Arabian Capital Partners LLC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01  Execute Non-Disclosure Agreement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02  Receive full Private Placement Memorandum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03  Complete investor verification (Reg D 506(c))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39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04  Review subscription 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05  Wire transfer &amp; 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9A00"/>
                </a:solidFill>
              </a:rPr>
              <a:t>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7490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Caleb Caraway — Managing Partner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096511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Arabian Wealth Management LLC · A Dark Horse Wealth Management Company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443983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Reg D 506(c) · §3(c)(7) Qualified Purchasers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791455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March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2179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This presentation does not constitute an offer to sell or solicitation. Investment involves risk, including possible loss of principal. Refer to PPM for definitive terms.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
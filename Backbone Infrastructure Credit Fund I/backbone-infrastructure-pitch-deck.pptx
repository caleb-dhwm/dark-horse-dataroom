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Backbone Infrastructure
Credit Fund I, LP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6576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9A00"/>
                </a:solidFill>
              </a:rPr>
              <a:t>Senior Secured U.S. Critical Infrastructure Debt · Three-Pillar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</a:rPr>
              <a:t>14–17% Net IRR Target. Zero Management Fees. IRC §892 SWF Tax Exemption.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STRICTLY CONFIDENTIAL. Prepared exclusively for qualified institutional investors and sovereign wealth funds. Not an offer to sell. Investment involves significant risk. Refer to PPM and LPA.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Dark Horse Wealth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Highlights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14–17%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 Net IRR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17–21% target gross IRR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Management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Zero — none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§892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SWF Tax Exemption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IRC §892 qualifying income exempt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$500M–$5B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 AUM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Delaware LP + Cayman Feeder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7yr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Fund 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+2-year extension option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Max Portfolio LTV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65% per-deal maximum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The Market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U.S. middle-market infrastructure financing gap widened dramatically post-Basel III/IV. Deals $20M–$150M are too large for community banks, too small for direct SWF deployment, too complex for rigid credit funds — but too essential to remain unfinanced.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Three Asset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Data Center Debt · Energy Transition Debt · Industrial Real Property Debt — three highly complementary verticals sharing sourcing infrastructure and underwriting methodology.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Why SWFs Cannot Replicate Internally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Middle-market relationships require permanent local origination teams. A $5B SWF allocation cannot efficiently underwrite 80 × $40M loans. Backbone provides turnkey access to this yield stratum.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Structural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Bank structural retreat (post-Basel III/IV) is permanent, not temporary. PE dry powder at all-time highs. AI/energy capex creating multi-decade infrastructure debt demand.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Three-Pillar 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Pillar 1 — Data Center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Senior secured loans to mission-critical data center operators and AI compute facility developers. AI-driven buildout creating sustained, premium-yield lending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Pillar 2 — Energy Transition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First-lien debt to renewable energy, battery storage, SMR, and grid modernization projects. Government-backed offtake agreements provide additional collateral 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Pillar 3 — Industrial Real Property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Senior secured lending against industrial and logistics real property — advanced manufacturing, reshoring facilities, mission-critical operations. Texas-concentrated.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Combined Portfolio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All three pillars share: first-lien collateral · AI/energy demand tailwind · reshoring policy support · 60% max LTV · identical underwriting standards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Fund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Delaware Limited Partnership + Cayman Islands Feeder Fund (for SWF investors)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Target Gross IRR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17% – 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Target Net IRR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14% – 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Target Cash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10% – 13% annualized, paid quarterly · commencing Q1 of year following 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Management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0.00% —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Carried Interest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15% over 12% preferred return (whole-fund waterfall)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735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Fund 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7355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 years + 2-year extension option (LP approval)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62102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Investment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2102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 years from final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9684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Minimum Commitment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684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$25,000,000 (institutional) — no maximum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Max Portfolio LTV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3159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60% blended · 65% per-deal maximum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SWF Tax Treatment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63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IRC §892 exempt — no U.S. federal income tax on qualifying income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010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Service 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010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SCALE LLP / Dori Karjian · NAV Fund Services · Spicer Jeffries LLP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Sovereign Wealth Fund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IRC §892 Tax Exemption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Qualifying SWF investors receive complete exemption from U.S. federal income tax on qualifying investment income — debt interest and capital gains from qualifying U.S. assets.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Cayman Feeder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Dedicated Cayman Islands feeder fund for SWF investors — familiar structure, established legal framework, maximum tax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ERISA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&lt;25% benefit plan investor — plan asset rules do not apply. Simplifies SWF governance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Scale 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$500M to $5B target AUM — sized for meaningful SWF allocation without requiring fund restructuring at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Reporting &amp;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Quarterly financial reporting · NAV Fund Services independent administration · Spicer Jeffries LLP annual audit · Full covenant and portfolio transparency.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Caleb Caraway — Principal &amp; 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CEO of Dark Horse Wealth Management. Multi-vertical private credit and infrastructure track record. Managing partner across Corinthian Capital Partners, Quarter Horse Capital Partners, and affiliated entities.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Dark Horse Wealth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Registered Investment Adviser. Governing entity for the Dark Horse fund family. Provides compliance, operational, and investor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Service Provider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SCALE LLP / Dori Karjian (securities counsel) · NAV Fund Services (administrator) · Spicer Jeffries LLP (PCAOB-registered auditor)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9A00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Backbone Infrastructure Credit Fund I, 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01  Execute Non-Disclosure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02  Receive full Private Placement 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03  Complete investor verification (Reg D 506(c))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04  Review subscription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05  Wire transfer &amp;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0"/>
                </a:solidFill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Caleb Caraway — Principal &amp; 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9651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Dark Horse Wealth Management (Registered Investment Adviser)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439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Delaware LP + Cayman Islands Feeder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9145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Minimum Commitment: $25,000,000 · IRC §892 SWF Pathway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This presentation does not constitute an offer to sell or solicitation. Investment involves risk, including possible loss of principal. Refer to PPM for definitive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